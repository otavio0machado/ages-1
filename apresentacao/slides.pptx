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4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411480"/>
            <a:ext cx="54864" cy="5943600"/>
          </a:xfrm>
          <a:prstGeom prst="rect">
            <a:avLst/>
          </a:prstGeom>
          <a:solidFill>
            <a:srgbClr val="224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98480" y="502920"/>
            <a:ext cx="1005840" cy="1005840"/>
          </a:xfrm>
          <a:prstGeom prst="ellipse">
            <a:avLst/>
          </a:prstGeom>
          <a:solidFill>
            <a:srgbClr val="224620"/>
          </a:solidFill>
          <a:ln w="19050">
            <a:solidFill>
              <a:srgbClr val="C4A9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698480" y="6172200"/>
            <a:ext cx="914400" cy="347472"/>
          </a:xfrm>
          <a:prstGeom prst="roundRect">
            <a:avLst/>
          </a:prstGeom>
          <a:solidFill>
            <a:srgbClr val="295028"/>
          </a:solidFill>
          <a:ln>
            <a:solidFill>
              <a:srgbClr val="C4A9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5F0E8"/>
                </a:solidFill>
                <a:latin typeface="Consola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029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0E8"/>
                </a:solidFill>
                <a:latin typeface="Georgia"/>
              </a:rPr>
              <a:t>Conversor de Câmbio USD ↔ BRL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143000"/>
            <a:ext cx="9784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DED8CD"/>
                </a:solidFill>
                <a:latin typeface="Aptos"/>
              </a:rPr>
              <a:t>Um case real de desenvolvimento com Claude Code Agent Teams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1828800"/>
            <a:ext cx="100584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C4A962"/>
                </a:solidFill>
                <a:latin typeface="Georgia"/>
              </a:rPr>
              <a:t>Frontend puro, API pública e documentação didática em um projeto AGES/PUCRS.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5303520"/>
            <a:ext cx="9784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F5F0E8"/>
                </a:solidFill>
                <a:latin typeface="Aptos"/>
              </a:rPr>
              <a:t>Apresentado por Claude Opus 4.6 — Agente Líder | Projeto AGES/PUCRS 2026/1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4160520"/>
            <a:ext cx="3749039" cy="502920"/>
          </a:xfrm>
          <a:prstGeom prst="roundRect">
            <a:avLst/>
          </a:prstGeom>
          <a:solidFill>
            <a:srgbClr val="295028"/>
          </a:solidFill>
          <a:ln>
            <a:solidFill>
              <a:srgbClr val="C4A9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F0E8"/>
                </a:solidFill>
                <a:latin typeface="Consolas"/>
              </a:rPr>
              <a:t>USD ↔ BRL | AwesomeAPI | HTML/CSS/JS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4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411480"/>
            <a:ext cx="54864" cy="5943600"/>
          </a:xfrm>
          <a:prstGeom prst="rect">
            <a:avLst/>
          </a:prstGeom>
          <a:solidFill>
            <a:srgbClr val="224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98480" y="502920"/>
            <a:ext cx="1005840" cy="1005840"/>
          </a:xfrm>
          <a:prstGeom prst="ellipse">
            <a:avLst/>
          </a:prstGeom>
          <a:solidFill>
            <a:srgbClr val="224620"/>
          </a:solidFill>
          <a:ln w="19050">
            <a:solidFill>
              <a:srgbClr val="C4A9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698480" y="6172200"/>
            <a:ext cx="914400" cy="347472"/>
          </a:xfrm>
          <a:prstGeom prst="roundRect">
            <a:avLst/>
          </a:prstGeom>
          <a:solidFill>
            <a:srgbClr val="295028"/>
          </a:solidFill>
          <a:ln>
            <a:solidFill>
              <a:srgbClr val="C4A9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5F0E8"/>
                </a:solidFill>
                <a:latin typeface="Consola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029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0E8"/>
                </a:solidFill>
                <a:latin typeface="Georgia"/>
              </a:rPr>
              <a:t>Quem está apresentando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143000"/>
            <a:ext cx="9784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DED8CD"/>
                </a:solidFill>
                <a:latin typeface="Aptos"/>
              </a:rPr>
              <a:t>Papel do agente líder e diferença entre modos de colaboração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1645920"/>
            <a:ext cx="3657600" cy="3474720"/>
          </a:xfrm>
          <a:prstGeom prst="roundRect">
            <a:avLst/>
          </a:prstGeom>
          <a:solidFill>
            <a:srgbClr val="295028"/>
          </a:solidFill>
          <a:ln w="19050">
            <a:solidFill>
              <a:srgbClr val="C4A9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spcAft>
                <a:spcPts val="800"/>
              </a:spcAft>
            </a:pPr>
            <a:r>
              <a:rPr sz="1900" b="1">
                <a:solidFill>
                  <a:srgbClr val="F5F0E8"/>
                </a:solidFill>
                <a:latin typeface="Georgia"/>
              </a:rPr>
              <a:t>Claude Code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DED8CD"/>
                </a:solidFill>
                <a:latin typeface="Aptos"/>
              </a:rPr>
              <a:t>Coordenei 3 agentes especialistas.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DED8CD"/>
                </a:solidFill>
                <a:latin typeface="Aptos"/>
              </a:rPr>
              <a:t>Consolidei código, docs, QA e apresentação.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DED8CD"/>
                </a:solidFill>
                <a:latin typeface="Aptos"/>
              </a:rPr>
              <a:t>Revisei integração e entregáveis finais.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60" y="1645920"/>
            <a:ext cx="3063240" cy="3474720"/>
          </a:xfrm>
          <a:prstGeom prst="roundRect">
            <a:avLst/>
          </a:prstGeom>
          <a:solidFill>
            <a:srgbClr val="295028"/>
          </a:solidFill>
          <a:ln w="19050">
            <a:solidFill>
              <a:srgbClr val="C4A9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spcAft>
                <a:spcPts val="800"/>
              </a:spcAft>
            </a:pPr>
            <a:r>
              <a:rPr sz="1900" b="1">
                <a:solidFill>
                  <a:srgbClr val="F5F0E8"/>
                </a:solidFill>
                <a:latin typeface="Georgia"/>
              </a:rPr>
              <a:t>Agent Teams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DED8CD"/>
                </a:solidFill>
                <a:latin typeface="Aptos"/>
              </a:rPr>
              <a:t>Especialização por papéis.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DED8CD"/>
                </a:solidFill>
                <a:latin typeface="Aptos"/>
              </a:rPr>
              <a:t>Contexto compartilhado e coordenação.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DED8CD"/>
                </a:solidFill>
                <a:latin typeface="Aptos"/>
              </a:rPr>
              <a:t>Útil quando há frentes paralelas.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645920"/>
            <a:ext cx="3246120" cy="3474720"/>
          </a:xfrm>
          <a:prstGeom prst="roundRect">
            <a:avLst/>
          </a:prstGeom>
          <a:solidFill>
            <a:srgbClr val="295028"/>
          </a:solidFill>
          <a:ln w="19050">
            <a:solidFill>
              <a:srgbClr val="C4A9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spcAft>
                <a:spcPts val="800"/>
              </a:spcAft>
            </a:pPr>
            <a:r>
              <a:rPr sz="1900" b="1">
                <a:solidFill>
                  <a:srgbClr val="F5F0E8"/>
                </a:solidFill>
                <a:latin typeface="Georgia"/>
              </a:rPr>
              <a:t>Subagents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DED8CD"/>
                </a:solidFill>
                <a:latin typeface="Aptos"/>
              </a:rPr>
              <a:t>Ajudam em tarefas pontuais.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DED8CD"/>
                </a:solidFill>
                <a:latin typeface="Aptos"/>
              </a:rPr>
              <a:t>Boa opção para exploração curta.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DED8CD"/>
                </a:solidFill>
                <a:latin typeface="Aptos"/>
              </a:rPr>
              <a:t>Menos overhead de orquestração.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577840"/>
            <a:ext cx="9692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DED8CD"/>
                </a:solidFill>
                <a:latin typeface="Aptos"/>
              </a:rPr>
              <a:t>Resumo: Agent Teams é melhor quando o problema permite dividir responsabilidades sem perder coerência.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4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411480"/>
            <a:ext cx="54864" cy="5943600"/>
          </a:xfrm>
          <a:prstGeom prst="rect">
            <a:avLst/>
          </a:prstGeom>
          <a:solidFill>
            <a:srgbClr val="224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98480" y="502920"/>
            <a:ext cx="1005840" cy="1005840"/>
          </a:xfrm>
          <a:prstGeom prst="ellipse">
            <a:avLst/>
          </a:prstGeom>
          <a:solidFill>
            <a:srgbClr val="224620"/>
          </a:solidFill>
          <a:ln w="19050">
            <a:solidFill>
              <a:srgbClr val="C4A9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698480" y="6172200"/>
            <a:ext cx="914400" cy="347472"/>
          </a:xfrm>
          <a:prstGeom prst="roundRect">
            <a:avLst/>
          </a:prstGeom>
          <a:solidFill>
            <a:srgbClr val="295028"/>
          </a:solidFill>
          <a:ln>
            <a:solidFill>
              <a:srgbClr val="C4A9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5F0E8"/>
                </a:solidFill>
                <a:latin typeface="Consolas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029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0E8"/>
                </a:solidFill>
                <a:latin typeface="Georgia"/>
              </a:rPr>
              <a:t>O Desafio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143000"/>
            <a:ext cx="9784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DED8CD"/>
                </a:solidFill>
                <a:latin typeface="Aptos"/>
              </a:rPr>
              <a:t>Briefing acadêmico, restrições e objetivo pedagógico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3736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100">
                <a:solidFill>
                  <a:srgbClr val="F5F0E8"/>
                </a:solidFill>
                <a:latin typeface="Aptos"/>
              </a:rPr>
              <a:t>• Disciplina AGES, PUCRS: aprender consumo de APIs em um projeto real.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F5F0E8"/>
                </a:solidFill>
                <a:latin typeface="Aptos"/>
              </a:rPr>
              <a:t>• Entregar um site de câmbio USD ↔ BRL consumindo a AwesomeAPI.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F5F0E8"/>
                </a:solidFill>
                <a:latin typeface="Aptos"/>
              </a:rPr>
              <a:t>• Restrições: HTML, CSS e JavaScript vanilla; sem backend; sem build step.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F5F0E8"/>
                </a:solidFill>
                <a:latin typeface="Aptos"/>
              </a:rPr>
              <a:t>• Design: estética editorial inspirada na nota americana de 100 dólares.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349240"/>
            <a:ext cx="10058400" cy="658368"/>
          </a:xfrm>
          <a:prstGeom prst="roundRect">
            <a:avLst/>
          </a:prstGeom>
          <a:solidFill>
            <a:srgbClr val="295028"/>
          </a:solidFill>
          <a:ln>
            <a:solidFill>
              <a:srgbClr val="C4A9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5F0E8"/>
                </a:solidFill>
                <a:latin typeface="Aptos"/>
              </a:rPr>
              <a:t>Pergunta central do case: como transformar um exercício de API em um produto pequeno, explicável e apresentável?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4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411480"/>
            <a:ext cx="54864" cy="5943600"/>
          </a:xfrm>
          <a:prstGeom prst="rect">
            <a:avLst/>
          </a:prstGeom>
          <a:solidFill>
            <a:srgbClr val="224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98480" y="502920"/>
            <a:ext cx="1005840" cy="1005840"/>
          </a:xfrm>
          <a:prstGeom prst="ellipse">
            <a:avLst/>
          </a:prstGeom>
          <a:solidFill>
            <a:srgbClr val="224620"/>
          </a:solidFill>
          <a:ln w="19050">
            <a:solidFill>
              <a:srgbClr val="C4A9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698480" y="6172200"/>
            <a:ext cx="914400" cy="347472"/>
          </a:xfrm>
          <a:prstGeom prst="roundRect">
            <a:avLst/>
          </a:prstGeom>
          <a:solidFill>
            <a:srgbClr val="295028"/>
          </a:solidFill>
          <a:ln>
            <a:solidFill>
              <a:srgbClr val="C4A9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5F0E8"/>
                </a:solidFill>
                <a:latin typeface="Consolas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029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0E8"/>
                </a:solidFill>
                <a:latin typeface="Georgia"/>
              </a:rPr>
              <a:t>O Time de Agentes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143000"/>
            <a:ext cx="9784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DED8CD"/>
                </a:solidFill>
                <a:latin typeface="Aptos"/>
              </a:rPr>
              <a:t>Divisão de trabalho do líder + 3 teammates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417320"/>
            <a:ext cx="3840480" cy="1005840"/>
          </a:xfrm>
          <a:prstGeom prst="roundRect">
            <a:avLst/>
          </a:prstGeom>
          <a:solidFill>
            <a:srgbClr val="295028"/>
          </a:solidFill>
          <a:ln w="19050">
            <a:solidFill>
              <a:srgbClr val="C4A9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F5F0E8"/>
                </a:solidFill>
                <a:latin typeface="Georgia"/>
              </a:rPr>
              <a:t>Líder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DED8CD"/>
                </a:solidFill>
                <a:latin typeface="Aptos"/>
              </a:rPr>
              <a:t>Coordenação, síntese, revisão e entrega final.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926080"/>
            <a:ext cx="3154680" cy="1828800"/>
          </a:xfrm>
          <a:prstGeom prst="roundRect">
            <a:avLst/>
          </a:prstGeom>
          <a:solidFill>
            <a:srgbClr val="295028"/>
          </a:solidFill>
          <a:ln w="19050">
            <a:solidFill>
              <a:srgbClr val="C4A9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F5F0E8"/>
                </a:solidFill>
                <a:latin typeface="Georgia"/>
              </a:rPr>
              <a:t>API &amp; Lógica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DED8CD"/>
                </a:solidFill>
                <a:latin typeface="Aptos"/>
              </a:rPr>
              <a:t>fetch + async/await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DED8CD"/>
                </a:solidFill>
                <a:latin typeface="Aptos"/>
              </a:rPr>
              <a:t>Conversão e formatação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DED8CD"/>
                </a:solidFill>
                <a:latin typeface="Aptos"/>
              </a:rPr>
              <a:t>Tratamento de erros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2926080"/>
            <a:ext cx="3154680" cy="1828800"/>
          </a:xfrm>
          <a:prstGeom prst="roundRect">
            <a:avLst/>
          </a:prstGeom>
          <a:solidFill>
            <a:srgbClr val="295028"/>
          </a:solidFill>
          <a:ln w="19050">
            <a:solidFill>
              <a:srgbClr val="C4A9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F5F0E8"/>
                </a:solidFill>
                <a:latin typeface="Georgia"/>
              </a:rPr>
              <a:t>UI &amp; Design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DED8CD"/>
                </a:solidFill>
                <a:latin typeface="Aptos"/>
              </a:rPr>
              <a:t>HTML semântico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DED8CD"/>
                </a:solidFill>
                <a:latin typeface="Aptos"/>
              </a:rPr>
              <a:t>CSS editorial premium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DED8CD"/>
                </a:solidFill>
                <a:latin typeface="Aptos"/>
              </a:rPr>
              <a:t>Responsividade e microinterações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2926080"/>
            <a:ext cx="3154680" cy="1828800"/>
          </a:xfrm>
          <a:prstGeom prst="roundRect">
            <a:avLst/>
          </a:prstGeom>
          <a:solidFill>
            <a:srgbClr val="295028"/>
          </a:solidFill>
          <a:ln w="19050">
            <a:solidFill>
              <a:srgbClr val="C4A9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F5F0E8"/>
                </a:solidFill>
                <a:latin typeface="Georgia"/>
              </a:rPr>
              <a:t>Integração, QA &amp; Docs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DED8CD"/>
                </a:solidFill>
                <a:latin typeface="Aptos"/>
              </a:rPr>
              <a:t>app.js e fluxo de dados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DED8CD"/>
                </a:solidFill>
                <a:latin typeface="Aptos"/>
              </a:rPr>
              <a:t>Checklist de testes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DED8CD"/>
                </a:solidFill>
                <a:latin typeface="Aptos"/>
              </a:rPr>
              <a:t>Visão geral e README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48640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DED8CD"/>
                </a:solidFill>
                <a:latin typeface="Aptos"/>
              </a:rPr>
              <a:t>Coordenação por contrato de módulos, documentação paralela e integração final orientada por QA.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4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411480"/>
            <a:ext cx="54864" cy="5943600"/>
          </a:xfrm>
          <a:prstGeom prst="rect">
            <a:avLst/>
          </a:prstGeom>
          <a:solidFill>
            <a:srgbClr val="224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98480" y="502920"/>
            <a:ext cx="1005840" cy="1005840"/>
          </a:xfrm>
          <a:prstGeom prst="ellipse">
            <a:avLst/>
          </a:prstGeom>
          <a:solidFill>
            <a:srgbClr val="224620"/>
          </a:solidFill>
          <a:ln w="19050">
            <a:solidFill>
              <a:srgbClr val="C4A9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698480" y="6172200"/>
            <a:ext cx="914400" cy="347472"/>
          </a:xfrm>
          <a:prstGeom prst="roundRect">
            <a:avLst/>
          </a:prstGeom>
          <a:solidFill>
            <a:srgbClr val="295028"/>
          </a:solidFill>
          <a:ln>
            <a:solidFill>
              <a:srgbClr val="C4A9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5F0E8"/>
                </a:solidFill>
                <a:latin typeface="Consolas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029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0E8"/>
                </a:solidFill>
                <a:latin typeface="Georgia"/>
              </a:rPr>
              <a:t>Arquitetura do Projeto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143000"/>
            <a:ext cx="9784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DED8CD"/>
                </a:solidFill>
                <a:latin typeface="Aptos"/>
              </a:rPr>
              <a:t>Estrutura de arquivos e fluxo de dados da aplicação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600200"/>
            <a:ext cx="4251960" cy="4480560"/>
          </a:xfrm>
          <a:prstGeom prst="roundRect">
            <a:avLst/>
          </a:prstGeom>
          <a:solidFill>
            <a:srgbClr val="295028"/>
          </a:solidFill>
          <a:ln w="19050">
            <a:solidFill>
              <a:srgbClr val="C4A9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F5F0E8"/>
                </a:solidFill>
                <a:latin typeface="Georgia"/>
              </a:rPr>
              <a:t>Estrutura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DED8CD"/>
                </a:solidFill>
                <a:latin typeface="Aptos"/>
              </a:rPr>
              <a:t>index.html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DED8CD"/>
                </a:solidFill>
                <a:latin typeface="Aptos"/>
              </a:rPr>
              <a:t>css/reset.css + css/style.css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DED8CD"/>
                </a:solidFill>
                <a:latin typeface="Aptos"/>
              </a:rPr>
              <a:t>js/api.js, converter.js, utils.js, app.js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DED8CD"/>
                </a:solidFill>
                <a:latin typeface="Aptos"/>
              </a:rPr>
              <a:t>docs/00 a 03 + README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DED8CD"/>
                </a:solidFill>
                <a:latin typeface="Aptos"/>
              </a:rPr>
              <a:t>apresentacao/slides.pptx + screenshots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0" y="1783080"/>
            <a:ext cx="5486400" cy="3611880"/>
          </a:xfrm>
          <a:prstGeom prst="roundRect">
            <a:avLst/>
          </a:prstGeom>
          <a:solidFill>
            <a:srgbClr val="295028"/>
          </a:solidFill>
          <a:ln>
            <a:solidFill>
              <a:srgbClr val="C4A9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r>
              <a:rPr sz="1600">
                <a:solidFill>
                  <a:srgbClr val="F5F0E8"/>
                </a:solidFill>
                <a:latin typeface="Consolas"/>
              </a:rPr>
              <a:t>Input do usuário</a:t>
            </a:r>
          </a:p>
          <a:p>
            <a:pPr algn="ctr">
              <a:spcAft>
                <a:spcPts val="800"/>
              </a:spcAft>
            </a:pPr>
            <a:r>
              <a:rPr sz="1600">
                <a:solidFill>
                  <a:srgbClr val="C4A962"/>
                </a:solidFill>
                <a:latin typeface="Consolas"/>
              </a:rPr>
              <a:t>app.js escuta o evento</a:t>
            </a:r>
          </a:p>
          <a:p>
            <a:pPr algn="ctr">
              <a:spcAft>
                <a:spcPts val="800"/>
              </a:spcAft>
            </a:pPr>
            <a:r>
              <a:rPr sz="1600">
                <a:solidFill>
                  <a:srgbClr val="F5F0E8"/>
                </a:solidFill>
                <a:latin typeface="Consolas"/>
              </a:rPr>
              <a:t>fetch() consulta AwesomeAPI</a:t>
            </a:r>
          </a:p>
          <a:p>
            <a:pPr algn="ctr">
              <a:spcAft>
                <a:spcPts val="800"/>
              </a:spcAft>
            </a:pPr>
            <a:r>
              <a:rPr sz="1600">
                <a:solidFill>
                  <a:srgbClr val="C4A962"/>
                </a:solidFill>
                <a:latin typeface="Consolas"/>
              </a:rPr>
              <a:t>converter.js calcula o valor</a:t>
            </a:r>
          </a:p>
          <a:p>
            <a:pPr algn="ctr">
              <a:spcAft>
                <a:spcPts val="800"/>
              </a:spcAft>
            </a:pPr>
            <a:r>
              <a:rPr sz="1600">
                <a:solidFill>
                  <a:srgbClr val="F5F0E8"/>
                </a:solidFill>
                <a:latin typeface="Consolas"/>
              </a:rPr>
              <a:t>utils.js formata a saída</a:t>
            </a:r>
          </a:p>
          <a:p>
            <a:pPr algn="ctr">
              <a:spcAft>
                <a:spcPts val="800"/>
              </a:spcAft>
            </a:pPr>
            <a:r>
              <a:rPr sz="1600">
                <a:solidFill>
                  <a:srgbClr val="C4A962"/>
                </a:solidFill>
                <a:latin typeface="Consolas"/>
              </a:rPr>
              <a:t>DOM atualizado na interface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23560" y="5596128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DED8CD"/>
                </a:solidFill>
                <a:latin typeface="Aptos"/>
              </a:rPr>
              <a:t>Arquitetura pequena, explícita e fácil de explicar em sala.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4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411480"/>
            <a:ext cx="54864" cy="5943600"/>
          </a:xfrm>
          <a:prstGeom prst="rect">
            <a:avLst/>
          </a:prstGeom>
          <a:solidFill>
            <a:srgbClr val="224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98480" y="502920"/>
            <a:ext cx="1005840" cy="1005840"/>
          </a:xfrm>
          <a:prstGeom prst="ellipse">
            <a:avLst/>
          </a:prstGeom>
          <a:solidFill>
            <a:srgbClr val="224620"/>
          </a:solidFill>
          <a:ln w="19050">
            <a:solidFill>
              <a:srgbClr val="C4A9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698480" y="6172200"/>
            <a:ext cx="914400" cy="347472"/>
          </a:xfrm>
          <a:prstGeom prst="roundRect">
            <a:avLst/>
          </a:prstGeom>
          <a:solidFill>
            <a:srgbClr val="295028"/>
          </a:solidFill>
          <a:ln>
            <a:solidFill>
              <a:srgbClr val="C4A9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5F0E8"/>
                </a:solidFill>
                <a:latin typeface="Consolas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029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0E8"/>
                </a:solidFill>
                <a:latin typeface="Georgia"/>
              </a:rPr>
              <a:t>O Site em Desktop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143000"/>
            <a:ext cx="9784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DED8CD"/>
                </a:solidFill>
                <a:latin typeface="Aptos"/>
              </a:rPr>
              <a:t>Screenshot real da aplicação funcionando em USD → BRL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417320"/>
            <a:ext cx="10607040" cy="4800600"/>
          </a:xfrm>
          <a:prstGeom prst="roundRect">
            <a:avLst/>
          </a:prstGeom>
          <a:solidFill>
            <a:srgbClr val="295028"/>
          </a:solidFill>
          <a:ln w="19050">
            <a:solidFill>
              <a:srgbClr val="C4A9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ite-desktop-usd-br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2914" y="1417320"/>
            <a:ext cx="5367130" cy="48006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040880" y="5440680"/>
            <a:ext cx="4114800" cy="502920"/>
          </a:xfrm>
          <a:prstGeom prst="roundRect">
            <a:avLst/>
          </a:prstGeom>
          <a:solidFill>
            <a:srgbClr val="295028"/>
          </a:solidFill>
          <a:ln>
            <a:solidFill>
              <a:srgbClr val="C4A9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>
                <a:solidFill>
                  <a:srgbClr val="F5F0E8"/>
                </a:solidFill>
                <a:latin typeface="Aptos"/>
              </a:rPr>
              <a:t>Paleta verde, textura sutil e destaque premium para o valor convertido.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4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411480"/>
            <a:ext cx="54864" cy="5943600"/>
          </a:xfrm>
          <a:prstGeom prst="rect">
            <a:avLst/>
          </a:prstGeom>
          <a:solidFill>
            <a:srgbClr val="224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98480" y="502920"/>
            <a:ext cx="1005840" cy="1005840"/>
          </a:xfrm>
          <a:prstGeom prst="ellipse">
            <a:avLst/>
          </a:prstGeom>
          <a:solidFill>
            <a:srgbClr val="224620"/>
          </a:solidFill>
          <a:ln w="19050">
            <a:solidFill>
              <a:srgbClr val="C4A9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698480" y="6172200"/>
            <a:ext cx="914400" cy="347472"/>
          </a:xfrm>
          <a:prstGeom prst="roundRect">
            <a:avLst/>
          </a:prstGeom>
          <a:solidFill>
            <a:srgbClr val="295028"/>
          </a:solidFill>
          <a:ln>
            <a:solidFill>
              <a:srgbClr val="C4A9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5F0E8"/>
                </a:solidFill>
                <a:latin typeface="Consolas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029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0E8"/>
                </a:solidFill>
                <a:latin typeface="Georgia"/>
              </a:rPr>
              <a:t>O Site em Mobile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143000"/>
            <a:ext cx="9784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DED8CD"/>
                </a:solidFill>
                <a:latin typeface="Aptos"/>
              </a:rPr>
              <a:t>Screenshot real do layout responsivo em BRL → USD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463040"/>
            <a:ext cx="2971800" cy="4846320"/>
          </a:xfrm>
          <a:prstGeom prst="roundRect">
            <a:avLst/>
          </a:prstGeom>
          <a:solidFill>
            <a:srgbClr val="295028"/>
          </a:solidFill>
          <a:ln w="19050">
            <a:solidFill>
              <a:srgbClr val="C4A9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ite-mobile-brl-us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5025" y="1463040"/>
            <a:ext cx="1450548" cy="484632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343400" y="1828800"/>
            <a:ext cx="2926080" cy="1920240"/>
          </a:xfrm>
          <a:prstGeom prst="roundRect">
            <a:avLst/>
          </a:prstGeom>
          <a:solidFill>
            <a:srgbClr val="295028"/>
          </a:solidFill>
          <a:ln w="19050">
            <a:solidFill>
              <a:srgbClr val="C4A9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F5F0E8"/>
                </a:solidFill>
                <a:latin typeface="Georgia"/>
              </a:rPr>
              <a:t>O que se manteve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DED8CD"/>
                </a:solidFill>
                <a:latin typeface="Aptos"/>
              </a:rPr>
              <a:t>Input legível e toque confortável.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DED8CD"/>
                </a:solidFill>
                <a:latin typeface="Aptos"/>
              </a:rPr>
              <a:t>Toggle de direção sem colapso visual.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DED8CD"/>
                </a:solidFill>
                <a:latin typeface="Aptos"/>
              </a:rPr>
              <a:t>Hierarquia clara entre resultado e detalhes.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1828800"/>
            <a:ext cx="2926080" cy="1920240"/>
          </a:xfrm>
          <a:prstGeom prst="roundRect">
            <a:avLst/>
          </a:prstGeom>
          <a:solidFill>
            <a:srgbClr val="295028"/>
          </a:solidFill>
          <a:ln w="19050">
            <a:solidFill>
              <a:srgbClr val="C4A9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F5F0E8"/>
                </a:solidFill>
                <a:latin typeface="Georgia"/>
              </a:rPr>
              <a:t>Por que importa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DED8CD"/>
                </a:solidFill>
                <a:latin typeface="Aptos"/>
              </a:rPr>
              <a:t>A disciplina pede funcionamento real.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DED8CD"/>
                </a:solidFill>
                <a:latin typeface="Aptos"/>
              </a:rPr>
              <a:t>Responsividade não ficou como afterthought.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DED8CD"/>
                </a:solidFill>
                <a:latin typeface="Aptos"/>
              </a:rPr>
              <a:t>A mesma estética segue viva no celular.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4572000"/>
            <a:ext cx="60350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DED8CD"/>
                </a:solidFill>
                <a:latin typeface="Aptos"/>
              </a:rPr>
              <a:t>A captura mobile confirma que o projeto não é apenas desktop encolhido: os componentes continuam utilizáveis e coerentes.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4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411480"/>
            <a:ext cx="54864" cy="5943600"/>
          </a:xfrm>
          <a:prstGeom prst="rect">
            <a:avLst/>
          </a:prstGeom>
          <a:solidFill>
            <a:srgbClr val="224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98480" y="502920"/>
            <a:ext cx="1005840" cy="1005840"/>
          </a:xfrm>
          <a:prstGeom prst="ellipse">
            <a:avLst/>
          </a:prstGeom>
          <a:solidFill>
            <a:srgbClr val="224620"/>
          </a:solidFill>
          <a:ln w="19050">
            <a:solidFill>
              <a:srgbClr val="C4A9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698480" y="6172200"/>
            <a:ext cx="914400" cy="347472"/>
          </a:xfrm>
          <a:prstGeom prst="roundRect">
            <a:avLst/>
          </a:prstGeom>
          <a:solidFill>
            <a:srgbClr val="295028"/>
          </a:solidFill>
          <a:ln>
            <a:solidFill>
              <a:srgbClr val="C4A9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5F0E8"/>
                </a:solidFill>
                <a:latin typeface="Consolas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029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0E8"/>
                </a:solidFill>
                <a:latin typeface="Georgia"/>
              </a:rPr>
              <a:t>Decisões Técnicas que Importam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143000"/>
            <a:ext cx="9784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DED8CD"/>
                </a:solidFill>
                <a:latin typeface="Aptos"/>
              </a:rPr>
              <a:t>Resumo das escolhas mais úteis para alunos de começo de curso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10241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F5F0E8"/>
                </a:solidFill>
                <a:latin typeface="Aptos"/>
              </a:rPr>
              <a:t>• Escolhemos fetch() em vez de axios porque o navegador já resolve o caso sem dependências extras.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5F0E8"/>
                </a:solidFill>
                <a:latin typeface="Aptos"/>
              </a:rPr>
              <a:t>• Escolhemos módulos separados em vez de um script único porque isso facilita leitura, teste e manutenção.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5F0E8"/>
                </a:solidFill>
                <a:latin typeface="Aptos"/>
              </a:rPr>
              <a:t>• Escolhemos debounce + cache curto em vez de request por tecla porque a API pública merece cuidado.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5F0E8"/>
                </a:solidFill>
                <a:latin typeface="Aptos"/>
              </a:rPr>
              <a:t>• Escolhemos DOM direto em vez de framework porque o foco do trabalho era entender a base web.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5F0E8"/>
                </a:solidFill>
                <a:latin typeface="Aptos"/>
              </a:rPr>
              <a:t>• Escolhemos HTML semântico e CSS puro porque o aprendizado precisava ficar explícito.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4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411480"/>
            <a:ext cx="54864" cy="5943600"/>
          </a:xfrm>
          <a:prstGeom prst="rect">
            <a:avLst/>
          </a:prstGeom>
          <a:solidFill>
            <a:srgbClr val="224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98480" y="502920"/>
            <a:ext cx="1005840" cy="1005840"/>
          </a:xfrm>
          <a:prstGeom prst="ellipse">
            <a:avLst/>
          </a:prstGeom>
          <a:solidFill>
            <a:srgbClr val="224620"/>
          </a:solidFill>
          <a:ln w="19050">
            <a:solidFill>
              <a:srgbClr val="C4A9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698480" y="6172200"/>
            <a:ext cx="914400" cy="347472"/>
          </a:xfrm>
          <a:prstGeom prst="roundRect">
            <a:avLst/>
          </a:prstGeom>
          <a:solidFill>
            <a:srgbClr val="295028"/>
          </a:solidFill>
          <a:ln>
            <a:solidFill>
              <a:srgbClr val="C4A9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5F0E8"/>
                </a:solidFill>
                <a:latin typeface="Consolas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029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0E8"/>
                </a:solidFill>
                <a:latin typeface="Georgia"/>
              </a:rPr>
              <a:t>O que Cada Agente Produziu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143000"/>
            <a:ext cx="9784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DED8CD"/>
                </a:solidFill>
                <a:latin typeface="Aptos"/>
              </a:rPr>
              <a:t>Métricas do caso consolidado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691640"/>
            <a:ext cx="3429000" cy="2240280"/>
          </a:xfrm>
          <a:prstGeom prst="roundRect">
            <a:avLst/>
          </a:prstGeom>
          <a:solidFill>
            <a:srgbClr val="295028"/>
          </a:solidFill>
          <a:ln w="19050">
            <a:solidFill>
              <a:srgbClr val="C4A9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spcAft>
                <a:spcPts val="800"/>
              </a:spcAft>
            </a:pPr>
            <a:r>
              <a:rPr sz="1900" b="1">
                <a:solidFill>
                  <a:srgbClr val="F5F0E8"/>
                </a:solidFill>
                <a:latin typeface="Georgia"/>
              </a:rPr>
              <a:t>API &amp; Lógica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DED8CD"/>
                </a:solidFill>
                <a:latin typeface="Aptos"/>
              </a:rPr>
              <a:t>450 linhas de código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DED8CD"/>
                </a:solidFill>
                <a:latin typeface="Aptos"/>
              </a:rPr>
              <a:t>721 linhas de documentação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DED8CD"/>
                </a:solidFill>
                <a:latin typeface="Aptos"/>
              </a:rPr>
              <a:t>≈ 7.2 páginas didáticas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91640"/>
            <a:ext cx="3429000" cy="2240280"/>
          </a:xfrm>
          <a:prstGeom prst="roundRect">
            <a:avLst/>
          </a:prstGeom>
          <a:solidFill>
            <a:srgbClr val="295028"/>
          </a:solidFill>
          <a:ln w="19050">
            <a:solidFill>
              <a:srgbClr val="C4A9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spcAft>
                <a:spcPts val="800"/>
              </a:spcAft>
            </a:pPr>
            <a:r>
              <a:rPr sz="1900" b="1">
                <a:solidFill>
                  <a:srgbClr val="F5F0E8"/>
                </a:solidFill>
                <a:latin typeface="Georgia"/>
              </a:rPr>
              <a:t>UI &amp; Design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DED8CD"/>
                </a:solidFill>
                <a:latin typeface="Aptos"/>
              </a:rPr>
              <a:t>1105 linhas de código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DED8CD"/>
                </a:solidFill>
                <a:latin typeface="Aptos"/>
              </a:rPr>
              <a:t>697 linhas de documentação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DED8CD"/>
                </a:solidFill>
                <a:latin typeface="Aptos"/>
              </a:rPr>
              <a:t>≈ 7.5 páginas didáticas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1691640"/>
            <a:ext cx="3429000" cy="2240280"/>
          </a:xfrm>
          <a:prstGeom prst="roundRect">
            <a:avLst/>
          </a:prstGeom>
          <a:solidFill>
            <a:srgbClr val="295028"/>
          </a:solidFill>
          <a:ln w="19050">
            <a:solidFill>
              <a:srgbClr val="C4A9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spcAft>
                <a:spcPts val="800"/>
              </a:spcAft>
            </a:pPr>
            <a:r>
              <a:rPr sz="1900" b="1">
                <a:solidFill>
                  <a:srgbClr val="F5F0E8"/>
                </a:solidFill>
                <a:latin typeface="Georgia"/>
              </a:rPr>
              <a:t>Integração &amp; QA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DED8CD"/>
                </a:solidFill>
                <a:latin typeface="Aptos"/>
              </a:rPr>
              <a:t>317 linhas de código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DED8CD"/>
                </a:solidFill>
                <a:latin typeface="Aptos"/>
              </a:rPr>
              <a:t>981 linhas de documentação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DED8CD"/>
                </a:solidFill>
                <a:latin typeface="Aptos"/>
              </a:rPr>
              <a:t>≈ 8.5 páginas didáticas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4434840"/>
            <a:ext cx="9966960" cy="1051560"/>
          </a:xfrm>
          <a:prstGeom prst="roundRect">
            <a:avLst/>
          </a:prstGeom>
          <a:solidFill>
            <a:srgbClr val="295028"/>
          </a:solidFill>
          <a:ln>
            <a:solidFill>
              <a:srgbClr val="C4A9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5F0E8"/>
                </a:solidFill>
                <a:latin typeface="Aptos"/>
              </a:rPr>
              <a:t>Total consolidado: 1872 linhas de código, 2399 linhas de documentação principal e cerca de 23 páginas de conteúdo didático.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669280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DED8CD"/>
                </a:solidFill>
                <a:latin typeface="Aptos"/>
              </a:rPr>
              <a:t>Entregáveis finais: 7 arquivos de código, 4 docs principais, README, 3 screenshots e 1 apresentação.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4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411480"/>
            <a:ext cx="54864" cy="5943600"/>
          </a:xfrm>
          <a:prstGeom prst="rect">
            <a:avLst/>
          </a:prstGeom>
          <a:solidFill>
            <a:srgbClr val="224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98480" y="502920"/>
            <a:ext cx="1005840" cy="1005840"/>
          </a:xfrm>
          <a:prstGeom prst="ellipse">
            <a:avLst/>
          </a:prstGeom>
          <a:solidFill>
            <a:srgbClr val="224620"/>
          </a:solidFill>
          <a:ln w="19050">
            <a:solidFill>
              <a:srgbClr val="C4A9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698480" y="6172200"/>
            <a:ext cx="914400" cy="347472"/>
          </a:xfrm>
          <a:prstGeom prst="roundRect">
            <a:avLst/>
          </a:prstGeom>
          <a:solidFill>
            <a:srgbClr val="295028"/>
          </a:solidFill>
          <a:ln>
            <a:solidFill>
              <a:srgbClr val="C4A9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5F0E8"/>
                </a:solidFill>
                <a:latin typeface="Consolas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029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0E8"/>
                </a:solidFill>
                <a:latin typeface="Georgia"/>
              </a:rPr>
              <a:t>A Documentação como Produto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143000"/>
            <a:ext cx="9784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DED8CD"/>
                </a:solidFill>
                <a:latin typeface="Aptos"/>
              </a:rPr>
              <a:t>A filosofia do projeto foi ensinar, não só registrar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417320"/>
            <a:ext cx="10149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DED8CD"/>
                </a:solidFill>
                <a:latin typeface="Aptos"/>
              </a:rPr>
              <a:t>Cada documento começa por conceitos-chave, passa por decisões técnicas e termina em tutorial + glossário.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148840"/>
            <a:ext cx="1965960" cy="3063240"/>
          </a:xfrm>
          <a:prstGeom prst="roundRect">
            <a:avLst/>
          </a:prstGeom>
          <a:solidFill>
            <a:srgbClr val="295028"/>
          </a:solidFill>
          <a:ln>
            <a:solidFill>
              <a:srgbClr val="C4A9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C4A962"/>
                </a:solidFill>
                <a:latin typeface="Consolas"/>
              </a:rPr>
              <a:t>00</a:t>
            </a:r>
          </a:p>
          <a:p>
            <a:pPr algn="ctr"/>
            <a:r>
              <a:rPr sz="1300">
                <a:solidFill>
                  <a:srgbClr val="F5F0E8"/>
                </a:solidFill>
                <a:latin typeface="Aptos"/>
              </a:rPr>
              <a:t>Visão geral do sistema, arquitetura, execução local e mapa de leitura.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2148840"/>
            <a:ext cx="1965960" cy="3063240"/>
          </a:xfrm>
          <a:prstGeom prst="roundRect">
            <a:avLst/>
          </a:prstGeom>
          <a:solidFill>
            <a:srgbClr val="295028"/>
          </a:solidFill>
          <a:ln>
            <a:solidFill>
              <a:srgbClr val="C4A9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C4A962"/>
                </a:solidFill>
                <a:latin typeface="Consolas"/>
              </a:rPr>
              <a:t>01</a:t>
            </a:r>
          </a:p>
          <a:p>
            <a:pPr algn="ctr"/>
            <a:r>
              <a:rPr sz="1300">
                <a:solidFill>
                  <a:srgbClr val="F5F0E8"/>
                </a:solidFill>
                <a:latin typeface="Aptos"/>
              </a:rPr>
              <a:t>API, JSON, fetch, async/await, debounce e regras de conversão.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2148840"/>
            <a:ext cx="1965960" cy="3063240"/>
          </a:xfrm>
          <a:prstGeom prst="roundRect">
            <a:avLst/>
          </a:prstGeom>
          <a:solidFill>
            <a:srgbClr val="295028"/>
          </a:solidFill>
          <a:ln>
            <a:solidFill>
              <a:srgbClr val="C4A9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C4A962"/>
                </a:solidFill>
                <a:latin typeface="Consolas"/>
              </a:rPr>
              <a:t>02</a:t>
            </a:r>
          </a:p>
          <a:p>
            <a:pPr algn="ctr"/>
            <a:r>
              <a:rPr sz="1300">
                <a:solidFill>
                  <a:srgbClr val="F5F0E8"/>
                </a:solidFill>
                <a:latin typeface="Aptos"/>
              </a:rPr>
              <a:t>HTML semântico, CSS puro, acessibilidade, responsividade e design.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2148840"/>
            <a:ext cx="1965960" cy="3063240"/>
          </a:xfrm>
          <a:prstGeom prst="roundRect">
            <a:avLst/>
          </a:prstGeom>
          <a:solidFill>
            <a:srgbClr val="295028"/>
          </a:solidFill>
          <a:ln>
            <a:solidFill>
              <a:srgbClr val="C4A9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C4A962"/>
                </a:solidFill>
                <a:latin typeface="Consolas"/>
              </a:rPr>
              <a:t>03</a:t>
            </a:r>
          </a:p>
          <a:p>
            <a:pPr algn="ctr"/>
            <a:r>
              <a:rPr sz="1300">
                <a:solidFill>
                  <a:srgbClr val="F5F0E8"/>
                </a:solidFill>
                <a:latin typeface="Aptos"/>
              </a:rPr>
              <a:t>Integração via app.js, estado da aplicação, QA e checklist manual.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5532120"/>
            <a:ext cx="10058400" cy="502920"/>
          </a:xfrm>
          <a:prstGeom prst="roundRect">
            <a:avLst/>
          </a:prstGeom>
          <a:solidFill>
            <a:srgbClr val="295028"/>
          </a:solidFill>
          <a:ln>
            <a:solidFill>
              <a:srgbClr val="C4A9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>
                <a:solidFill>
                  <a:srgbClr val="F5F0E8"/>
                </a:solidFill>
                <a:latin typeface="Aptos"/>
              </a:rPr>
              <a:t>Resultado pedagógico: uma pessoa leiga consegue repetir o projeto seguindo a documentação em ordem.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4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411480"/>
            <a:ext cx="54864" cy="5943600"/>
          </a:xfrm>
          <a:prstGeom prst="rect">
            <a:avLst/>
          </a:prstGeom>
          <a:solidFill>
            <a:srgbClr val="224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98480" y="502920"/>
            <a:ext cx="1005840" cy="1005840"/>
          </a:xfrm>
          <a:prstGeom prst="ellipse">
            <a:avLst/>
          </a:prstGeom>
          <a:solidFill>
            <a:srgbClr val="224620"/>
          </a:solidFill>
          <a:ln w="19050">
            <a:solidFill>
              <a:srgbClr val="C4A9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698480" y="6172200"/>
            <a:ext cx="914400" cy="347472"/>
          </a:xfrm>
          <a:prstGeom prst="roundRect">
            <a:avLst/>
          </a:prstGeom>
          <a:solidFill>
            <a:srgbClr val="295028"/>
          </a:solidFill>
          <a:ln>
            <a:solidFill>
              <a:srgbClr val="C4A9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5F0E8"/>
                </a:solidFill>
                <a:latin typeface="Consolas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029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0E8"/>
                </a:solidFill>
                <a:latin typeface="Georgia"/>
              </a:rPr>
              <a:t>Lições Aprendidas &amp; Limitações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143000"/>
            <a:ext cx="9784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DED8CD"/>
                </a:solidFill>
                <a:latin typeface="Aptos"/>
              </a:rPr>
              <a:t>Sem propaganda mágica: onde Agent Teams brilhou e onde cobra seu preço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783080"/>
            <a:ext cx="4480560" cy="3291840"/>
          </a:xfrm>
          <a:prstGeom prst="roundRect">
            <a:avLst/>
          </a:prstGeom>
          <a:solidFill>
            <a:srgbClr val="295028"/>
          </a:solidFill>
          <a:ln w="19050">
            <a:solidFill>
              <a:srgbClr val="C4A9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F5F0E8"/>
                </a:solidFill>
                <a:latin typeface="Georgia"/>
              </a:rPr>
              <a:t>Funcionou bem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DED8CD"/>
                </a:solidFill>
                <a:latin typeface="Aptos"/>
              </a:rPr>
              <a:t>Especialização acelerou o entendimento do problema.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DED8CD"/>
                </a:solidFill>
                <a:latin typeface="Aptos"/>
              </a:rPr>
              <a:t>Documentação ficou mais forte quando cada agente narrou sua camada.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DED8CD"/>
                </a:solidFill>
                <a:latin typeface="Aptos"/>
              </a:rPr>
              <a:t>A integração final ficou mais objetiva porque os contratos estavam claros.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06440" y="1783080"/>
            <a:ext cx="4572000" cy="3291840"/>
          </a:xfrm>
          <a:prstGeom prst="roundRect">
            <a:avLst/>
          </a:prstGeom>
          <a:solidFill>
            <a:srgbClr val="3E3122"/>
          </a:solidFill>
          <a:ln w="19050">
            <a:solidFill>
              <a:srgbClr val="C4A9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F5F0E8"/>
                </a:solidFill>
                <a:latin typeface="Georgia"/>
              </a:rPr>
              <a:t>Limitações honestas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DED8CD"/>
                </a:solidFill>
                <a:latin typeface="Aptos"/>
              </a:rPr>
              <a:t>Mais tokens e mais overhead de coordenação.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DED8CD"/>
                </a:solidFill>
                <a:latin typeface="Aptos"/>
              </a:rPr>
              <a:t>Exige revisão final forte para manter coerência.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DED8CD"/>
                </a:solidFill>
                <a:latin typeface="Aptos"/>
              </a:rPr>
              <a:t>Para tarefas pequenas, um único agente ainda é suficiente.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5486400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DED8CD"/>
                </a:solidFill>
                <a:latin typeface="Aptos"/>
              </a:rPr>
              <a:t>Conclusão prática: Agent Teams vale quando há frentes paralelas reais e documentação/qualidade importam tanto quanto velocidade.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4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411480"/>
            <a:ext cx="54864" cy="5943600"/>
          </a:xfrm>
          <a:prstGeom prst="rect">
            <a:avLst/>
          </a:prstGeom>
          <a:solidFill>
            <a:srgbClr val="224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98480" y="502920"/>
            <a:ext cx="1005840" cy="1005840"/>
          </a:xfrm>
          <a:prstGeom prst="ellipse">
            <a:avLst/>
          </a:prstGeom>
          <a:solidFill>
            <a:srgbClr val="224620"/>
          </a:solidFill>
          <a:ln w="19050">
            <a:solidFill>
              <a:srgbClr val="C4A9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698480" y="6172200"/>
            <a:ext cx="914400" cy="347472"/>
          </a:xfrm>
          <a:prstGeom prst="roundRect">
            <a:avLst/>
          </a:prstGeom>
          <a:solidFill>
            <a:srgbClr val="295028"/>
          </a:solidFill>
          <a:ln>
            <a:solidFill>
              <a:srgbClr val="C4A9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5F0E8"/>
                </a:solidFill>
                <a:latin typeface="Consolas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029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0E8"/>
                </a:solidFill>
                <a:latin typeface="Georgia"/>
              </a:rPr>
              <a:t>O Futuro: Como Usar Agent Teams nos Seus Projetos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143000"/>
            <a:ext cx="9784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DED8CD"/>
                </a:solidFill>
                <a:latin typeface="Aptos"/>
              </a:rPr>
              <a:t>Regras simples para escolher entre Agent Teams, subagents e sessão única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37360"/>
            <a:ext cx="10058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>
                <a:solidFill>
                  <a:srgbClr val="F5F0E8"/>
                </a:solidFill>
                <a:latin typeface="Aptos"/>
              </a:rPr>
              <a:t>• Use Agent Teams quando houver papéis claros: API, UI, QA, conteúdo, dados ou documentação.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F5F0E8"/>
                </a:solidFill>
                <a:latin typeface="Aptos"/>
              </a:rPr>
              <a:t>• Use subagents para subtarefas curtas, exploração de código ou verificações laterais.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F5F0E8"/>
                </a:solidFill>
                <a:latin typeface="Aptos"/>
              </a:rPr>
              <a:t>• Use uma sessão única quando o problema for pequeno, linear e com pouca coordenação.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F5F0E8"/>
                </a:solidFill>
                <a:latin typeface="Aptos"/>
              </a:rPr>
              <a:t>• Leve deste case: um bom prompt já funciona como template reutilizável de equipe.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257800"/>
            <a:ext cx="10058400" cy="685800"/>
          </a:xfrm>
          <a:prstGeom prst="roundRect">
            <a:avLst/>
          </a:prstGeom>
          <a:solidFill>
            <a:srgbClr val="295028"/>
          </a:solidFill>
          <a:ln>
            <a:solidFill>
              <a:srgbClr val="C4A9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5F0E8"/>
                </a:solidFill>
                <a:latin typeface="Aptos"/>
              </a:rPr>
              <a:t>Dica operacional: defina entregáveis, arquivos de responsabilidade e critérios de revisão antes de soltar o time.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4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411480"/>
            <a:ext cx="54864" cy="5943600"/>
          </a:xfrm>
          <a:prstGeom prst="rect">
            <a:avLst/>
          </a:prstGeom>
          <a:solidFill>
            <a:srgbClr val="224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98480" y="502920"/>
            <a:ext cx="1005840" cy="1005840"/>
          </a:xfrm>
          <a:prstGeom prst="ellipse">
            <a:avLst/>
          </a:prstGeom>
          <a:solidFill>
            <a:srgbClr val="224620"/>
          </a:solidFill>
          <a:ln w="19050">
            <a:solidFill>
              <a:srgbClr val="C4A9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698480" y="6172200"/>
            <a:ext cx="914400" cy="347472"/>
          </a:xfrm>
          <a:prstGeom prst="roundRect">
            <a:avLst/>
          </a:prstGeom>
          <a:solidFill>
            <a:srgbClr val="295028"/>
          </a:solidFill>
          <a:ln>
            <a:solidFill>
              <a:srgbClr val="C4A9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5F0E8"/>
                </a:solidFill>
                <a:latin typeface="Consolas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029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0E8"/>
                </a:solidFill>
                <a:latin typeface="Georgia"/>
              </a:rPr>
              <a:t>Encerramento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143000"/>
            <a:ext cx="9784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DED8CD"/>
                </a:solidFill>
                <a:latin typeface="Aptos"/>
              </a:rPr>
              <a:t>Resumo do que foi demonstrado neste 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300" b="1">
                <a:solidFill>
                  <a:srgbClr val="C4A962"/>
                </a:solidFill>
                <a:latin typeface="Georgia"/>
              </a:rPr>
              <a:t>Mostrei que Agent Teams pode coordenar código, design, QA e documentação em um projeto acadêmico real sem perder clareza técnica.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94760" y="2971800"/>
            <a:ext cx="4572000" cy="1828800"/>
          </a:xfrm>
          <a:prstGeom prst="roundRect">
            <a:avLst/>
          </a:prstGeom>
          <a:solidFill>
            <a:srgbClr val="295028"/>
          </a:solidFill>
          <a:ln>
            <a:solidFill>
              <a:srgbClr val="C4A9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5F0E8"/>
                </a:solidFill>
                <a:latin typeface="Consolas"/>
              </a:rPr>
              <a:t>[INSERIR LINK OU QR DO REPOSITÓRIO]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4864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DED8CD"/>
                </a:solidFill>
                <a:latin typeface="Aptos"/>
              </a:rPr>
              <a:t>Obrigado! — Claude Opus 4.6, Agente Líder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